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CSP Reduction (%)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Emb. LoRA</c:v>
                  </c:pt>
                  <c:pt idx="1">
                    <c:v>Curriculum</c:v>
                  </c:pt>
                  <c:pt idx="2">
                    <c:v>Augment</c:v>
                  </c:pt>
                  <c:pt idx="3">
                    <c:v>Align</c:v>
                  </c:pt>
                  <c:pt idx="4">
                    <c:v>Dom.Adapt</c:v>
                  </c:pt>
                  <c:pt idx="5">
                    <c:v>DPO</c:v>
                  </c:pt>
                  <c:pt idx="6">
                    <c:v>Combined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1.4</c:v>
                </c:pt>
                <c:pt idx="2">
                  <c:v>1.1</c:v>
                </c:pt>
                <c:pt idx="3">
                  <c:v>2.1</c:v>
                </c:pt>
                <c:pt idx="4">
                  <c:v>1.3</c:v>
                </c:pt>
                <c:pt idx="5">
                  <c:v>0.8</c:v>
                </c:pt>
                <c:pt idx="6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DTP Reduction (%)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Emb. LoRA</c:v>
                  </c:pt>
                  <c:pt idx="1">
                    <c:v>Curriculum</c:v>
                  </c:pt>
                  <c:pt idx="2">
                    <c:v>Augment</c:v>
                  </c:pt>
                  <c:pt idx="3">
                    <c:v>Align</c:v>
                  </c:pt>
                  <c:pt idx="4">
                    <c:v>Dom.Adapt</c:v>
                  </c:pt>
                  <c:pt idx="5">
                    <c:v>DPO</c:v>
                  </c:pt>
                  <c:pt idx="6">
                    <c:v>Combined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1.2</c:v>
                </c:pt>
                <c:pt idx="1">
                  <c:v>2.75</c:v>
                </c:pt>
                <c:pt idx="2">
                  <c:v>1.5</c:v>
                </c:pt>
                <c:pt idx="3">
                  <c:v>1.8</c:v>
                </c:pt>
                <c:pt idx="4">
                  <c:v>4.05</c:v>
                </c:pt>
                <c:pt idx="5">
                  <c:v>0.9</c:v>
                </c:pt>
                <c:pt idx="6">
                  <c:v>5.25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 w="3175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46320"/>
          </a:xfrm>
          <a:prstGeom prst="rect">
            <a:avLst/>
          </a:prstGeom>
          <a:ln w="1905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Swami Vivekanand Technical University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Teaching Department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Evaluation: Techniques to Mitigate Code-Switching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Domain Transfer Penalties in Hindi/Hinglish CoT Reasoning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Sharthak (300012722059)  |  Daneshwar Prasad (300012722008)  |  Vishal Verma (300012722049)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Basanti Minj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Department of CSE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Introduction &amp; Motivation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Research Objectives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Problem Statement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Baseline Findings (7th Sem)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Literature Survey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Research Methodology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FHA-CoT Dataset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Six Mitigation Techniques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Results &amp; Discussion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Conclusion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References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2 of 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LLM reasoning research is overwhelmingly English-centric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Hinglish is the de facto language of digital India (1.4B+ people)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Chain-of-Thought (CoT) reasoning enables transparent, step-by-step problem solving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Critical gap: no robust CoT systems for Hindi/Hinglish</a:t>
            </a:r>
            <a:endParaRPr lang="en-US" sz="1500" dirty="0"/>
          </a:p>
        </p:txBody>
      </p:sp>
      <p:pic>
        <p:nvPicPr>
          <p:cNvPr id="5" name="Image 0" descr="C:/Users/shaur/OneDrive/Documents/Major Project 8th sem/src/images/three_domai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188720"/>
            <a:ext cx="41148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3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6 concrete mitigation techniques for Code-Switching Penalty (CSP) and Domain Transfer Penalty (DTP)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FHA-CoT corpus from 25K to 50K samples via controlled synthetic augmentation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Techniques: Embedding LoRA, Curriculum Learning, Data Augmentation, Cross-Lingual Alignment, Domain Adapters, DPO Training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combined pipeline demonstrating measurable penalty reduction with preserved CoT faithfulness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reproducible framework for robust multilingual reasoning in the Indian language sphere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4 of 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Code-Switching Penalty: 10.2% avg FAA drop (Hindi to Hinglish)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Domain Transfer Penalty: 10.35% FAA drop (General to Spiritual)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Compounding effect: worst case 20.3% total drop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12.4% Correct-Unfaithful rate in hardest split</a:t>
            </a:r>
            <a:endParaRPr lang="en-US" sz="1500" dirty="0"/>
          </a:p>
        </p:txBody>
      </p:sp>
      <p:pic>
        <p:nvPicPr>
          <p:cNvPr id="5" name="Image 0" descr="C:/Users/shaur/OneDrive/Documents/Major Project 8th sem/src/images/cot_mechanis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188720"/>
            <a:ext cx="41148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5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Semester Baseline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-6858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-6858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Code-Switching Penalty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10.35%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600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Domain Transfer Penalty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64.4%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886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Avg Hinglish FAA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172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Correct-Unfaithful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6 of 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CoT Reasoning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Wei et al. (2022): Step-by-step reasoning via prompting. Few-Shot, Zero-Shot, and Instruction-Tuned variants.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LLaMA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Touvron et al. (2023): Open-weight foundation models. Llama-3-8B as our base for fine-tuning.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PEFT / QLoRA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Dettmers et al. (2023): Quantized LoRA enabling fine-tuning on consumer GPUs (RTX 4090, 24GB).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Indic NLP Gaps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Ahuja et al. (2023): Systematic underperformance on Indian languages. Code-mixing remains unsolved.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7 of 23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0"/>
            <a:ext cx="804672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395728"/>
            <a:ext cx="329184" cy="329184"/>
          </a:xfrm>
          <a:prstGeom prst="ellipse">
            <a:avLst/>
          </a:prstGeom>
          <a:solidFill>
            <a:srgbClr val="1B3A5C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Literature review &amp; data 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98064" y="2395728"/>
            <a:ext cx="329184" cy="329184"/>
          </a:xfrm>
          <a:prstGeom prst="ellipse">
            <a:avLst/>
          </a:prstGeom>
          <a:solidFill>
            <a:srgbClr val="1B3A5C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1737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Phase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9424" y="28803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FHA-CoT expansion (25K to 50K)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2395728"/>
            <a:ext cx="329184" cy="329184"/>
          </a:xfrm>
          <a:prstGeom prst="ellipse">
            <a:avLst/>
          </a:prstGeom>
          <a:solidFill>
            <a:srgbClr val="1B3A5C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737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Phase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58768" y="28803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Design &amp; implement 6 techniques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6752" y="2395728"/>
            <a:ext cx="329184" cy="329184"/>
          </a:xfrm>
          <a:prstGeom prst="ellipse">
            <a:avLst/>
          </a:prstGeom>
          <a:solidFill>
            <a:srgbClr val="1B3A5C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1737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Phase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68112" y="28803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Combined pipeline &amp; evaluation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6096" y="2395728"/>
            <a:ext cx="329184" cy="329184"/>
          </a:xfrm>
          <a:prstGeom prst="ellipse">
            <a:avLst/>
          </a:prstGeom>
          <a:solidFill>
            <a:srgbClr val="1B3A5C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7456" y="1737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Phase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77456" y="288036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Statistical analysis &amp; ablation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8 of 23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FHA-CoT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dataset_compos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Foundational Hindi/Hinglish Chain-of-Thought Corpus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25K samples expanded to 50K via controlled augmentation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3 cognitive domains: General, Medical, Spiritual (Gita)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2 linguistic variants: Hindi (Devanagari) + Hinglish (Roman)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Instruction-Rationale-Answer triplets with faithfulness scoring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9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Mitigation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1. Embedding LoRA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Dual-adapter targeting tokenization bottleneck for code-mixed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2. Curriculum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Progressive domain adaptation: easy to hard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3. Data Augmentation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Controlled code-mixing expanding 25K to 50K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18872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4. Cross-Lingual Alignment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196596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Contrastive loss mapping Hindi/Hinglish closer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10 of 23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1: Embedding-Level LoRA Adapters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embedding_lo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Dual-adapter design: Embedding LoRA + Attention LoRA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Targets the tokenization bottleneck: Hindi = 3.2 tok/word vs English = 1.3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Rank 64: best trade-off (12.6M trainable params, 0.16% of model)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CSP reduction: avg -2.0% across all domains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Largest gain in Spiritual Hinglish (+3.5% FAA)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11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2: Curriculum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curriculum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3-stage progressive training: General then Medical then Spiritual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Reduces catastrophic forgetting by establishing stable representations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Spiritual DTP: 10.35% to 7.6% (-26.1%)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Difficulty hierarchy preserved but gaps narrowed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Best for Domain Transfer Penalty reduction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12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3: Synthetic Data Augmentation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augmentation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Controlled code-mixing algorithm for Hinglish generation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CMI target range: 0.3-0.5 (natural code-switching)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Hinglish training data doubled: 12.5K to 25K samples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Quality filtering via perplexity thresholds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Consistent +0.9-3.9% FAA improvement across all splits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13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4: Cross-Lingual Alignment Loss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alignment_l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Contrastive loss mapping Hindi and Hinglish representations closer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Most effective individual technique for CSP reduction (-2.1%)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Minimal impact on Hindi-only splits (+0.6%)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Reduces representation gap in embedding space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Mathematical framework for cross-lingual transfer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14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5: Domain-Specific Adapters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domain_adap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Per-domain LoRA adapters with learned routing mechanism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Most effective for DTP: Spiritual 10.35% to 6.3% (-39.1%)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Specialized reasoning pathways for each cognitive domain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Router network selects optimal adapter at inference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5% latency overhead at inference time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15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6: Faithfulness-Aware DPO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dpo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Direct Preference Optimization for reasoning quality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Trains model to prefer logically sound over merely correct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Correct-Unfaithful rate: 12.4% to 7.8% (-37.1%)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Modest FAA gain (+0.3%) but major qualitative improvement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Only technique directly targeting the 'illusion of competence'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16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Mitigation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17 of 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Individual Technique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18 of 23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Combined Pipeline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-6858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-6858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CSP Reduction (10.2% to 4.8%)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600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DTP Reduction (10.35% to 5.1%)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886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Final Avg Hinglish FAA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0" cy="2011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172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Correct-Unfaithful Reduction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19 of 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Faithfulness Improvement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C:/Users/shaur/OneDrive/Documents/Major Project 8th sem/src/images/faithfulness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4747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CoT Faithfulness: 3.5 to 4.3 (5-point scale)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Correct-Unfaithful rate: 12.4% to 4.2%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DPO most effective for faithfulness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Domain Adapters most effective for DTP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Cross-Lingual Alignment most effective for CSP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20 of 23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and DTP penalties identified in 7th semester are not insurmountable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pipeline: 52.9% CSP reduction, 50.7% DTP reduction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individual: Alignment (CSP), Domain Adapters (DTP), DPO (Faithfulness)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FHA-CoT dataset expanded to 50K with controlled augmentation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framework for robust multilingual reasoning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Other Indic languages, multi-modal reasoning, real-time adaptive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21 of 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Wei et al., Chain-of-Thought Prompting Elicits Reasoning in LLMs, NeurIPS, 2022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H. Touvron et al., LLaMA: Open and Efficient Foundation LLMs, arXiv, 2023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T. Dettmers et al., QLoRA: Efficient Finetuning of Quantized LLMs, NeurIPS, 2023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K. Cobbe et al., Training Verifiers to Solve Math Word Problems, arXiv, 2021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K. Ahuja et al., IndicNLP Suite for Indian Languages, ACL, 2023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R. Rafailov et al., Direct Preference Optimization, NeurIPS, 2023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FHA-CoT Dataset: huggingface.co/fhai50032/datasets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UTD, Department of CSE, CSVTU Bhilai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Slide 22 of 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29000" y="47320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18000"/>
                  </a:srgbClr>
                </a:solidFill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 w="3175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46320"/>
          </a:xfrm>
          <a:prstGeom prst="rect">
            <a:avLst/>
          </a:prstGeom>
          <a:ln w="1905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shauryajnvkkr@gmail.com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huggingface.co/fhai50032/datasets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UTD, CSVTU Bhilai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Evaluation: Techniques to Mitigate CSP and DTP</dc:title>
  <dc:subject>PptxGenJS Presentation</dc:subject>
  <dc:creator>Shaurya Sharthak</dc:creator>
  <cp:lastModifiedBy>Shaurya Sharthak</cp:lastModifiedBy>
  <cp:revision>1</cp:revision>
  <dcterms:created xsi:type="dcterms:W3CDTF">2026-05-19T19:36:19Z</dcterms:created>
  <dcterms:modified xsi:type="dcterms:W3CDTF">2026-05-19T19:36:19Z</dcterms:modified>
</cp:coreProperties>
</file>